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7" r:id="rId7"/>
    <p:sldId id="270" r:id="rId8"/>
    <p:sldId id="271" r:id="rId9"/>
  </p:sldIdLst>
  <p:sldSz cx="18288000" cy="10287000"/>
  <p:notesSz cx="10234613" cy="71040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5338" cy="3561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583" y="1"/>
            <a:ext cx="4435338" cy="3561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50B3F-E576-43FA-8842-7137FEB8824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2437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802" y="3419449"/>
            <a:ext cx="8187014" cy="279660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7935"/>
            <a:ext cx="4435338" cy="3561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583" y="6747935"/>
            <a:ext cx="4435338" cy="3561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1D25D-4042-4CF1-AC99-2F051BAF3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2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D25D-4042-4CF1-AC99-2F051BAF3A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25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D25D-4042-4CF1-AC99-2F051BAF3A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32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D25D-4042-4CF1-AC99-2F051BAF3A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D25D-4042-4CF1-AC99-2F051BAF3A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94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D25D-4042-4CF1-AC99-2F051BAF3A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43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D25D-4042-4CF1-AC99-2F051BAF3A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72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D25D-4042-4CF1-AC99-2F051BAF3A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44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1D25D-4042-4CF1-AC99-2F051BAF3A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43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1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420BC-D7D6-43E0-83E7-E85EBE5D5A5F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1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8632F-916E-4D64-B8DE-12CB60215979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836408" y="1071956"/>
            <a:ext cx="10264775" cy="2506980"/>
          </a:xfrm>
          <a:custGeom>
            <a:avLst/>
            <a:gdLst/>
            <a:ahLst/>
            <a:cxnLst/>
            <a:rect l="l" t="t" r="r" b="b"/>
            <a:pathLst>
              <a:path w="10264775" h="2506979">
                <a:moveTo>
                  <a:pt x="9638034" y="2506903"/>
                </a:moveTo>
                <a:lnTo>
                  <a:pt x="626725" y="2506903"/>
                </a:lnTo>
                <a:lnTo>
                  <a:pt x="577747" y="2505018"/>
                </a:lnTo>
                <a:lnTo>
                  <a:pt x="529800" y="2499454"/>
                </a:lnTo>
                <a:lnTo>
                  <a:pt x="483023" y="2490351"/>
                </a:lnTo>
                <a:lnTo>
                  <a:pt x="437556" y="2477848"/>
                </a:lnTo>
                <a:lnTo>
                  <a:pt x="393537" y="2462086"/>
                </a:lnTo>
                <a:lnTo>
                  <a:pt x="351107" y="2443202"/>
                </a:lnTo>
                <a:lnTo>
                  <a:pt x="310405" y="2421337"/>
                </a:lnTo>
                <a:lnTo>
                  <a:pt x="271569" y="2396629"/>
                </a:lnTo>
                <a:lnTo>
                  <a:pt x="234740" y="2369218"/>
                </a:lnTo>
                <a:lnTo>
                  <a:pt x="200057" y="2339244"/>
                </a:lnTo>
                <a:lnTo>
                  <a:pt x="167658" y="2306846"/>
                </a:lnTo>
                <a:lnTo>
                  <a:pt x="137684" y="2272162"/>
                </a:lnTo>
                <a:lnTo>
                  <a:pt x="110274" y="2235333"/>
                </a:lnTo>
                <a:lnTo>
                  <a:pt x="85566" y="2196498"/>
                </a:lnTo>
                <a:lnTo>
                  <a:pt x="63701" y="2155795"/>
                </a:lnTo>
                <a:lnTo>
                  <a:pt x="44817" y="2113365"/>
                </a:lnTo>
                <a:lnTo>
                  <a:pt x="29054" y="2069347"/>
                </a:lnTo>
                <a:lnTo>
                  <a:pt x="16552" y="2023880"/>
                </a:lnTo>
                <a:lnTo>
                  <a:pt x="7449" y="1977103"/>
                </a:lnTo>
                <a:lnTo>
                  <a:pt x="1885" y="1929155"/>
                </a:lnTo>
                <a:lnTo>
                  <a:pt x="0" y="1880177"/>
                </a:lnTo>
                <a:lnTo>
                  <a:pt x="0" y="626725"/>
                </a:lnTo>
                <a:lnTo>
                  <a:pt x="1885" y="577747"/>
                </a:lnTo>
                <a:lnTo>
                  <a:pt x="7449" y="529800"/>
                </a:lnTo>
                <a:lnTo>
                  <a:pt x="16552" y="483023"/>
                </a:lnTo>
                <a:lnTo>
                  <a:pt x="29054" y="437556"/>
                </a:lnTo>
                <a:lnTo>
                  <a:pt x="44817" y="393537"/>
                </a:lnTo>
                <a:lnTo>
                  <a:pt x="63701" y="351107"/>
                </a:lnTo>
                <a:lnTo>
                  <a:pt x="85566" y="310405"/>
                </a:lnTo>
                <a:lnTo>
                  <a:pt x="110274" y="271569"/>
                </a:lnTo>
                <a:lnTo>
                  <a:pt x="137684" y="234740"/>
                </a:lnTo>
                <a:lnTo>
                  <a:pt x="167658" y="200057"/>
                </a:lnTo>
                <a:lnTo>
                  <a:pt x="200057" y="167658"/>
                </a:lnTo>
                <a:lnTo>
                  <a:pt x="234740" y="137684"/>
                </a:lnTo>
                <a:lnTo>
                  <a:pt x="271569" y="110274"/>
                </a:lnTo>
                <a:lnTo>
                  <a:pt x="310405" y="85566"/>
                </a:lnTo>
                <a:lnTo>
                  <a:pt x="351107" y="63701"/>
                </a:lnTo>
                <a:lnTo>
                  <a:pt x="393537" y="44817"/>
                </a:lnTo>
                <a:lnTo>
                  <a:pt x="437556" y="29054"/>
                </a:lnTo>
                <a:lnTo>
                  <a:pt x="483023" y="16552"/>
                </a:lnTo>
                <a:lnTo>
                  <a:pt x="529800" y="7449"/>
                </a:lnTo>
                <a:lnTo>
                  <a:pt x="577747" y="1885"/>
                </a:lnTo>
                <a:lnTo>
                  <a:pt x="626725" y="0"/>
                </a:lnTo>
                <a:lnTo>
                  <a:pt x="9638034" y="0"/>
                </a:lnTo>
                <a:lnTo>
                  <a:pt x="9687012" y="1885"/>
                </a:lnTo>
                <a:lnTo>
                  <a:pt x="9734960" y="7449"/>
                </a:lnTo>
                <a:lnTo>
                  <a:pt x="9781737" y="16552"/>
                </a:lnTo>
                <a:lnTo>
                  <a:pt x="9827204" y="29054"/>
                </a:lnTo>
                <a:lnTo>
                  <a:pt x="9871222" y="44817"/>
                </a:lnTo>
                <a:lnTo>
                  <a:pt x="9913652" y="63701"/>
                </a:lnTo>
                <a:lnTo>
                  <a:pt x="9954355" y="85566"/>
                </a:lnTo>
                <a:lnTo>
                  <a:pt x="9993190" y="110274"/>
                </a:lnTo>
                <a:lnTo>
                  <a:pt x="10030019" y="137684"/>
                </a:lnTo>
                <a:lnTo>
                  <a:pt x="10064703" y="167658"/>
                </a:lnTo>
                <a:lnTo>
                  <a:pt x="10097101" y="200057"/>
                </a:lnTo>
                <a:lnTo>
                  <a:pt x="10127076" y="234740"/>
                </a:lnTo>
                <a:lnTo>
                  <a:pt x="10154486" y="271569"/>
                </a:lnTo>
                <a:lnTo>
                  <a:pt x="10179194" y="310405"/>
                </a:lnTo>
                <a:lnTo>
                  <a:pt x="10201059" y="351107"/>
                </a:lnTo>
                <a:lnTo>
                  <a:pt x="10219943" y="393537"/>
                </a:lnTo>
                <a:lnTo>
                  <a:pt x="10235706" y="437556"/>
                </a:lnTo>
                <a:lnTo>
                  <a:pt x="10248208" y="483023"/>
                </a:lnTo>
                <a:lnTo>
                  <a:pt x="10257311" y="529800"/>
                </a:lnTo>
                <a:lnTo>
                  <a:pt x="10262875" y="577747"/>
                </a:lnTo>
                <a:lnTo>
                  <a:pt x="10264760" y="626725"/>
                </a:lnTo>
                <a:lnTo>
                  <a:pt x="10264760" y="1880177"/>
                </a:lnTo>
                <a:lnTo>
                  <a:pt x="10262875" y="1929155"/>
                </a:lnTo>
                <a:lnTo>
                  <a:pt x="10257311" y="1977103"/>
                </a:lnTo>
                <a:lnTo>
                  <a:pt x="10248208" y="2023880"/>
                </a:lnTo>
                <a:lnTo>
                  <a:pt x="10235706" y="2069347"/>
                </a:lnTo>
                <a:lnTo>
                  <a:pt x="10219943" y="2113365"/>
                </a:lnTo>
                <a:lnTo>
                  <a:pt x="10201059" y="2155795"/>
                </a:lnTo>
                <a:lnTo>
                  <a:pt x="10179194" y="2196498"/>
                </a:lnTo>
                <a:lnTo>
                  <a:pt x="10154486" y="2235333"/>
                </a:lnTo>
                <a:lnTo>
                  <a:pt x="10127076" y="2272162"/>
                </a:lnTo>
                <a:lnTo>
                  <a:pt x="10097101" y="2306846"/>
                </a:lnTo>
                <a:lnTo>
                  <a:pt x="10064703" y="2339244"/>
                </a:lnTo>
                <a:lnTo>
                  <a:pt x="10030019" y="2369218"/>
                </a:lnTo>
                <a:lnTo>
                  <a:pt x="9993190" y="2396629"/>
                </a:lnTo>
                <a:lnTo>
                  <a:pt x="9954355" y="2421337"/>
                </a:lnTo>
                <a:lnTo>
                  <a:pt x="9913652" y="2443202"/>
                </a:lnTo>
                <a:lnTo>
                  <a:pt x="9871222" y="2462086"/>
                </a:lnTo>
                <a:lnTo>
                  <a:pt x="9827204" y="2477848"/>
                </a:lnTo>
                <a:lnTo>
                  <a:pt x="9781737" y="2490351"/>
                </a:lnTo>
                <a:lnTo>
                  <a:pt x="9734960" y="2499454"/>
                </a:lnTo>
                <a:lnTo>
                  <a:pt x="9687012" y="2505018"/>
                </a:lnTo>
                <a:lnTo>
                  <a:pt x="9638034" y="250690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1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FB81B-95EE-4881-9336-F21F001F7C36}" type="datetime1">
              <a:rPr lang="en-US" smtClean="0"/>
              <a:t>4/25/2026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1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42C08-2A24-4FA6-9D46-A2DD14E2A2DC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4C5AA-93DD-4D36-9E7F-D43982190197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3162" y="22256"/>
            <a:ext cx="16881675" cy="3745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1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31300" y="3433755"/>
            <a:ext cx="8766810" cy="6386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E6A99-674C-4AE5-8F07-4F63FA1FA484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1574" y="3645324"/>
              <a:ext cx="8315622" cy="66416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6749" y="4206937"/>
              <a:ext cx="16954500" cy="0"/>
            </a:xfrm>
            <a:custGeom>
              <a:avLst/>
              <a:gdLst/>
              <a:ahLst/>
              <a:cxnLst/>
              <a:rect l="l" t="t" r="r" b="b"/>
              <a:pathLst>
                <a:path w="16954500">
                  <a:moveTo>
                    <a:pt x="0" y="0"/>
                  </a:moveTo>
                  <a:lnTo>
                    <a:pt x="1695449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183" y="1883663"/>
              <a:ext cx="16934687" cy="1932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84264" y="149352"/>
              <a:ext cx="4971287" cy="179831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algn="ctr">
              <a:lnSpc>
                <a:spcPct val="100000"/>
              </a:lnSpc>
              <a:spcBef>
                <a:spcPts val="100"/>
              </a:spcBef>
            </a:pPr>
            <a:r>
              <a:rPr sz="10300" spc="-20" dirty="0"/>
              <a:t>AI-</a:t>
            </a:r>
            <a:r>
              <a:rPr sz="10300" spc="-10" dirty="0"/>
              <a:t>Legis</a:t>
            </a:r>
            <a:endParaRPr sz="10300"/>
          </a:p>
          <a:p>
            <a:pPr marL="12065" marR="5080" algn="ctr">
              <a:lnSpc>
                <a:spcPts val="7500"/>
              </a:lnSpc>
              <a:spcBef>
                <a:spcPts val="1935"/>
              </a:spcBef>
            </a:pPr>
            <a:r>
              <a:rPr sz="7500" b="0" i="0" spc="-190" dirty="0">
                <a:solidFill>
                  <a:srgbClr val="4D4D4D"/>
                </a:solidFill>
                <a:latin typeface="Calibri"/>
                <a:cs typeface="Calibri"/>
              </a:rPr>
              <a:t>Intelligent</a:t>
            </a:r>
            <a:r>
              <a:rPr sz="7500" b="0" i="0" spc="-26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7500" b="0" i="0" spc="-170" dirty="0">
                <a:solidFill>
                  <a:srgbClr val="4D4D4D"/>
                </a:solidFill>
                <a:latin typeface="Calibri"/>
                <a:cs typeface="Calibri"/>
              </a:rPr>
              <a:t>Legal</a:t>
            </a:r>
            <a:r>
              <a:rPr sz="7500" b="0" i="0" spc="-26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7500" b="0" i="0" spc="-150" dirty="0">
                <a:solidFill>
                  <a:srgbClr val="4D4D4D"/>
                </a:solidFill>
                <a:latin typeface="Calibri"/>
                <a:cs typeface="Calibri"/>
              </a:rPr>
              <a:t>Case</a:t>
            </a:r>
            <a:r>
              <a:rPr sz="7500" b="0" i="0" spc="-26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7500" b="0" i="0" spc="-165" dirty="0">
                <a:solidFill>
                  <a:srgbClr val="4D4D4D"/>
                </a:solidFill>
                <a:latin typeface="Calibri"/>
                <a:cs typeface="Calibri"/>
              </a:rPr>
              <a:t>Analysis</a:t>
            </a:r>
            <a:r>
              <a:rPr sz="7500" b="0" i="0" spc="-26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7500" b="0" i="0" dirty="0">
                <a:solidFill>
                  <a:srgbClr val="4D4D4D"/>
                </a:solidFill>
                <a:latin typeface="Calibri"/>
                <a:cs typeface="Calibri"/>
              </a:rPr>
              <a:t>&amp;</a:t>
            </a:r>
            <a:r>
              <a:rPr sz="7500" b="0" i="0" spc="-26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7500" b="0" i="0" spc="-125" dirty="0">
                <a:solidFill>
                  <a:srgbClr val="4D4D4D"/>
                </a:solidFill>
                <a:latin typeface="Calibri"/>
                <a:cs typeface="Calibri"/>
              </a:rPr>
              <a:t>Inconsistency </a:t>
            </a:r>
            <a:r>
              <a:rPr sz="7500" b="0" i="0" spc="-180" dirty="0">
                <a:solidFill>
                  <a:srgbClr val="4D4D4D"/>
                </a:solidFill>
                <a:latin typeface="Calibri"/>
                <a:cs typeface="Calibri"/>
              </a:rPr>
              <a:t>Detection</a:t>
            </a:r>
            <a:r>
              <a:rPr sz="7500" b="0" i="0" spc="-2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7500" b="0" i="0" spc="-10" dirty="0">
                <a:solidFill>
                  <a:srgbClr val="4D4D4D"/>
                </a:solidFill>
                <a:latin typeface="Calibri"/>
                <a:cs typeface="Calibri"/>
              </a:rPr>
              <a:t>System</a:t>
            </a:r>
            <a:endParaRPr sz="7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29874" y="0"/>
              <a:ext cx="7858124" cy="1028309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40216" y="294117"/>
            <a:ext cx="8561705" cy="1334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50" dirty="0">
                <a:solidFill>
                  <a:srgbClr val="FFFFFF"/>
                </a:solidFill>
              </a:rPr>
              <a:t>Current</a:t>
            </a:r>
            <a:r>
              <a:rPr sz="8550" spc="-75" dirty="0">
                <a:solidFill>
                  <a:srgbClr val="FFFFFF"/>
                </a:solidFill>
              </a:rPr>
              <a:t> </a:t>
            </a:r>
            <a:r>
              <a:rPr sz="8550" spc="-10" dirty="0">
                <a:solidFill>
                  <a:srgbClr val="FFFFFF"/>
                </a:solidFill>
              </a:rPr>
              <a:t>Challenges</a:t>
            </a:r>
            <a:endParaRPr sz="8550"/>
          </a:p>
        </p:txBody>
      </p:sp>
      <p:grpSp>
        <p:nvGrpSpPr>
          <p:cNvPr id="6" name="object 6"/>
          <p:cNvGrpSpPr/>
          <p:nvPr/>
        </p:nvGrpSpPr>
        <p:grpSpPr>
          <a:xfrm>
            <a:off x="1016952" y="2218941"/>
            <a:ext cx="8867775" cy="5267960"/>
            <a:chOff x="1016952" y="2218941"/>
            <a:chExt cx="8867775" cy="5267960"/>
          </a:xfrm>
        </p:grpSpPr>
        <p:sp>
          <p:nvSpPr>
            <p:cNvPr id="7" name="object 7"/>
            <p:cNvSpPr/>
            <p:nvPr/>
          </p:nvSpPr>
          <p:spPr>
            <a:xfrm>
              <a:off x="1028699" y="2230688"/>
              <a:ext cx="8844280" cy="0"/>
            </a:xfrm>
            <a:custGeom>
              <a:avLst/>
              <a:gdLst/>
              <a:ahLst/>
              <a:cxnLst/>
              <a:rect l="l" t="t" r="r" b="b"/>
              <a:pathLst>
                <a:path w="8844280">
                  <a:moveTo>
                    <a:pt x="0" y="0"/>
                  </a:moveTo>
                  <a:lnTo>
                    <a:pt x="8844137" y="0"/>
                  </a:lnTo>
                </a:path>
              </a:pathLst>
            </a:custGeom>
            <a:ln w="2336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2966" y="4752665"/>
              <a:ext cx="95250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2966" y="7391090"/>
              <a:ext cx="95250" cy="952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40216" y="2575535"/>
            <a:ext cx="8442960" cy="718248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75565">
              <a:lnSpc>
                <a:spcPts val="5060"/>
              </a:lnSpc>
              <a:spcBef>
                <a:spcPts val="340"/>
              </a:spcBef>
            </a:pPr>
            <a:r>
              <a:rPr sz="4300" spc="-10" dirty="0">
                <a:solidFill>
                  <a:srgbClr val="FFFFFF"/>
                </a:solidFill>
                <a:latin typeface="Calibri"/>
                <a:cs typeface="Calibri"/>
              </a:rPr>
              <a:t>Addressing</a:t>
            </a:r>
            <a:r>
              <a:rPr sz="43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FFFFFF"/>
                </a:solidFill>
                <a:latin typeface="Calibri"/>
                <a:cs typeface="Calibri"/>
              </a:rPr>
              <a:t>inefficiencies</a:t>
            </a:r>
            <a:r>
              <a:rPr sz="43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43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43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FFFFFF"/>
                </a:solidFill>
                <a:latin typeface="Calibri"/>
                <a:cs typeface="Calibri"/>
              </a:rPr>
              <a:t>Indian </a:t>
            </a:r>
            <a:r>
              <a:rPr sz="4300" dirty="0">
                <a:solidFill>
                  <a:srgbClr val="FFFFFF"/>
                </a:solidFill>
                <a:latin typeface="Calibri"/>
                <a:cs typeface="Calibri"/>
              </a:rPr>
              <a:t>legal</a:t>
            </a:r>
            <a:r>
              <a:rPr sz="4300" spc="-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4300" spc="-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FFFFFF"/>
                </a:solidFill>
                <a:latin typeface="Calibri"/>
                <a:cs typeface="Calibri"/>
              </a:rPr>
              <a:t>today</a:t>
            </a:r>
            <a:endParaRPr sz="4300">
              <a:latin typeface="Calibri"/>
              <a:cs typeface="Calibri"/>
            </a:endParaRPr>
          </a:p>
          <a:p>
            <a:pPr marL="671195" marR="485775">
              <a:lnSpc>
                <a:spcPct val="114799"/>
              </a:lnSpc>
              <a:spcBef>
                <a:spcPts val="4215"/>
              </a:spcBef>
            </a:pP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0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Indian</a:t>
            </a:r>
            <a:r>
              <a:rPr sz="30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legal</a:t>
            </a:r>
            <a:r>
              <a:rPr sz="30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landscape</a:t>
            </a:r>
            <a:r>
              <a:rPr sz="30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faces</a:t>
            </a:r>
            <a:r>
              <a:rPr sz="30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significant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challenges,</a:t>
            </a:r>
            <a:r>
              <a:rPr sz="30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including</a:t>
            </a:r>
            <a:r>
              <a:rPr sz="30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manual</a:t>
            </a:r>
            <a:r>
              <a:rPr sz="305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tracking</a:t>
            </a:r>
            <a:r>
              <a:rPr sz="305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0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cases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physical</a:t>
            </a:r>
            <a:r>
              <a:rPr sz="305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"Black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Diaries,"</a:t>
            </a:r>
            <a:r>
              <a:rPr sz="305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leading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inefficiencies.</a:t>
            </a:r>
            <a:endParaRPr sz="3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3050">
              <a:latin typeface="Calibri"/>
              <a:cs typeface="Calibri"/>
            </a:endParaRPr>
          </a:p>
          <a:p>
            <a:pPr marL="671195" marR="5080">
              <a:lnSpc>
                <a:spcPct val="114799"/>
              </a:lnSpc>
            </a:pP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Lawyers</a:t>
            </a:r>
            <a:r>
              <a:rPr sz="305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305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20–30+</a:t>
            </a:r>
            <a:r>
              <a:rPr sz="305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active</a:t>
            </a:r>
            <a:r>
              <a:rPr sz="305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cases,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resulting</a:t>
            </a:r>
            <a:r>
              <a:rPr sz="305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3050" b="1" spc="-1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305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asymmetry</a:t>
            </a:r>
            <a:r>
              <a:rPr sz="305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30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real-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30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visibility.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fragmentation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causes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missed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deadlines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heightened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cognitive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legal professionals.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9574135"/>
            <a:ext cx="1787525" cy="713105"/>
          </a:xfrm>
          <a:custGeom>
            <a:avLst/>
            <a:gdLst/>
            <a:ahLst/>
            <a:cxnLst/>
            <a:rect l="l" t="t" r="r" b="b"/>
            <a:pathLst>
              <a:path w="1787525" h="713104">
                <a:moveTo>
                  <a:pt x="959549" y="403805"/>
                </a:moveTo>
                <a:lnTo>
                  <a:pt x="715229" y="403805"/>
                </a:lnTo>
                <a:lnTo>
                  <a:pt x="837389" y="0"/>
                </a:lnTo>
                <a:lnTo>
                  <a:pt x="959549" y="403805"/>
                </a:lnTo>
                <a:close/>
              </a:path>
              <a:path w="1787525" h="713104">
                <a:moveTo>
                  <a:pt x="1190295" y="485245"/>
                </a:moveTo>
                <a:lnTo>
                  <a:pt x="484483" y="485245"/>
                </a:lnTo>
                <a:lnTo>
                  <a:pt x="460730" y="67866"/>
                </a:lnTo>
                <a:lnTo>
                  <a:pt x="715229" y="403805"/>
                </a:lnTo>
                <a:lnTo>
                  <a:pt x="1194930" y="403805"/>
                </a:lnTo>
                <a:lnTo>
                  <a:pt x="1190295" y="485245"/>
                </a:lnTo>
                <a:close/>
              </a:path>
              <a:path w="1787525" h="713104">
                <a:moveTo>
                  <a:pt x="1194930" y="403805"/>
                </a:moveTo>
                <a:lnTo>
                  <a:pt x="959549" y="403805"/>
                </a:lnTo>
                <a:lnTo>
                  <a:pt x="1214048" y="67866"/>
                </a:lnTo>
                <a:lnTo>
                  <a:pt x="1194930" y="403805"/>
                </a:lnTo>
                <a:close/>
              </a:path>
              <a:path w="1787525" h="713104">
                <a:moveTo>
                  <a:pt x="1380321" y="644732"/>
                </a:moveTo>
                <a:lnTo>
                  <a:pt x="294457" y="644732"/>
                </a:lnTo>
                <a:lnTo>
                  <a:pt x="131577" y="257893"/>
                </a:lnTo>
                <a:lnTo>
                  <a:pt x="484483" y="485245"/>
                </a:lnTo>
                <a:lnTo>
                  <a:pt x="1447474" y="485245"/>
                </a:lnTo>
                <a:lnTo>
                  <a:pt x="1380321" y="644732"/>
                </a:lnTo>
                <a:close/>
              </a:path>
              <a:path w="1787525" h="713104">
                <a:moveTo>
                  <a:pt x="1447474" y="485245"/>
                </a:moveTo>
                <a:lnTo>
                  <a:pt x="1190295" y="485245"/>
                </a:lnTo>
                <a:lnTo>
                  <a:pt x="1543201" y="257893"/>
                </a:lnTo>
                <a:lnTo>
                  <a:pt x="1447474" y="485245"/>
                </a:lnTo>
                <a:close/>
              </a:path>
              <a:path w="1787525" h="713104">
                <a:moveTo>
                  <a:pt x="1699816" y="644732"/>
                </a:moveTo>
                <a:lnTo>
                  <a:pt x="1380321" y="644732"/>
                </a:lnTo>
                <a:lnTo>
                  <a:pt x="1787521" y="549719"/>
                </a:lnTo>
                <a:lnTo>
                  <a:pt x="1699816" y="644732"/>
                </a:lnTo>
                <a:close/>
              </a:path>
              <a:path w="1787525" h="713104">
                <a:moveTo>
                  <a:pt x="1636925" y="712864"/>
                </a:moveTo>
                <a:lnTo>
                  <a:pt x="37853" y="712864"/>
                </a:lnTo>
                <a:lnTo>
                  <a:pt x="0" y="671856"/>
                </a:lnTo>
                <a:lnTo>
                  <a:pt x="0" y="576025"/>
                </a:lnTo>
                <a:lnTo>
                  <a:pt x="294457" y="644732"/>
                </a:lnTo>
                <a:lnTo>
                  <a:pt x="1699816" y="644732"/>
                </a:lnTo>
                <a:lnTo>
                  <a:pt x="1636925" y="7128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29874" y="0"/>
            <a:ext cx="7858124" cy="102830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0146" y="410074"/>
            <a:ext cx="4798695" cy="25908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 marR="5080">
              <a:lnSpc>
                <a:spcPts val="9750"/>
              </a:lnSpc>
              <a:spcBef>
                <a:spcPts val="894"/>
              </a:spcBef>
            </a:pPr>
            <a:r>
              <a:rPr sz="8700" spc="-10" dirty="0">
                <a:solidFill>
                  <a:srgbClr val="FFFFFF"/>
                </a:solidFill>
              </a:rPr>
              <a:t>Problem </a:t>
            </a:r>
            <a:r>
              <a:rPr sz="8700" spc="-35" dirty="0">
                <a:solidFill>
                  <a:srgbClr val="FFFFFF"/>
                </a:solidFill>
              </a:rPr>
              <a:t>Statement</a:t>
            </a:r>
            <a:endParaRPr sz="8700"/>
          </a:p>
        </p:txBody>
      </p:sp>
      <p:sp>
        <p:nvSpPr>
          <p:cNvPr id="5" name="object 5"/>
          <p:cNvSpPr/>
          <p:nvPr/>
        </p:nvSpPr>
        <p:spPr>
          <a:xfrm>
            <a:off x="1076993" y="3087141"/>
            <a:ext cx="8818880" cy="0"/>
          </a:xfrm>
          <a:custGeom>
            <a:avLst/>
            <a:gdLst/>
            <a:ahLst/>
            <a:cxnLst/>
            <a:rect l="l" t="t" r="r" b="b"/>
            <a:pathLst>
              <a:path w="8818880">
                <a:moveTo>
                  <a:pt x="0" y="0"/>
                </a:moveTo>
                <a:lnTo>
                  <a:pt x="881875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6000" y="3315328"/>
            <a:ext cx="8729345" cy="55124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48740">
              <a:lnSpc>
                <a:spcPts val="5250"/>
              </a:lnSpc>
              <a:spcBef>
                <a:spcPts val="300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Addressing</a:t>
            </a:r>
            <a:r>
              <a:rPr sz="4400" spc="-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Inefficiencies</a:t>
            </a:r>
            <a:r>
              <a:rPr sz="4400" spc="-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Promoting</a:t>
            </a:r>
            <a:r>
              <a:rPr sz="440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35" dirty="0">
                <a:solidFill>
                  <a:srgbClr val="FFFFFF"/>
                </a:solidFill>
                <a:latin typeface="Calibri"/>
                <a:cs typeface="Calibri"/>
              </a:rPr>
              <a:t>Transparency</a:t>
            </a:r>
            <a:r>
              <a:rPr sz="44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44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Legal Practices</a:t>
            </a:r>
            <a:endParaRPr sz="4400">
              <a:latin typeface="Calibri"/>
              <a:cs typeface="Calibri"/>
            </a:endParaRPr>
          </a:p>
          <a:p>
            <a:pPr marL="36830" marR="5080">
              <a:lnSpc>
                <a:spcPts val="3600"/>
              </a:lnSpc>
              <a:spcBef>
                <a:spcPts val="2155"/>
              </a:spcBef>
            </a:pP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Indian</a:t>
            </a:r>
            <a:r>
              <a:rPr sz="305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legal</a:t>
            </a:r>
            <a:r>
              <a:rPr sz="305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305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plagued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inefficiencies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25" dirty="0">
                <a:solidFill>
                  <a:srgbClr val="FFFFFF"/>
                </a:solidFill>
                <a:latin typeface="Calibri"/>
                <a:cs typeface="Calibri"/>
              </a:rPr>
              <a:t>due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reliance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outdated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practices.</a:t>
            </a:r>
            <a:r>
              <a:rPr sz="305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reliance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25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physical</a:t>
            </a:r>
            <a:r>
              <a:rPr sz="30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20" dirty="0">
                <a:solidFill>
                  <a:srgbClr val="FFFFFF"/>
                </a:solidFill>
                <a:latin typeface="Calibri"/>
                <a:cs typeface="Calibri"/>
              </a:rPr>
              <a:t>documentation</a:t>
            </a:r>
            <a:r>
              <a:rPr sz="30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0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fragmented </a:t>
            </a:r>
            <a:r>
              <a:rPr sz="3050" spc="-20" dirty="0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leads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1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305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10" dirty="0">
                <a:solidFill>
                  <a:srgbClr val="FFFFFF"/>
                </a:solidFill>
                <a:latin typeface="Calibri"/>
                <a:cs typeface="Calibri"/>
              </a:rPr>
              <a:t>asymmetry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leaving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lawyers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clients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dark.</a:t>
            </a:r>
            <a:r>
              <a:rPr sz="30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0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digital </a:t>
            </a:r>
            <a:r>
              <a:rPr sz="3050" spc="-25" dirty="0">
                <a:solidFill>
                  <a:srgbClr val="FFFFFF"/>
                </a:solidFill>
                <a:latin typeface="Calibri"/>
                <a:cs typeface="Calibri"/>
              </a:rPr>
              <a:t>transformation</a:t>
            </a:r>
            <a:r>
              <a:rPr sz="30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0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essential</a:t>
            </a:r>
            <a:r>
              <a:rPr sz="30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0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enhance</a:t>
            </a:r>
            <a:r>
              <a:rPr sz="30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transparency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streamline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legal</a:t>
            </a:r>
            <a:r>
              <a:rPr sz="305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05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305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Calibri"/>
                <a:cs typeface="Calibri"/>
              </a:rPr>
              <a:t>stakeholders.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0143" y="9184102"/>
            <a:ext cx="2165350" cy="1102995"/>
          </a:xfrm>
          <a:custGeom>
            <a:avLst/>
            <a:gdLst/>
            <a:ahLst/>
            <a:cxnLst/>
            <a:rect l="l" t="t" r="r" b="b"/>
            <a:pathLst>
              <a:path w="2165350" h="1102995">
                <a:moveTo>
                  <a:pt x="1204631" y="403805"/>
                </a:moveTo>
                <a:lnTo>
                  <a:pt x="960311" y="403805"/>
                </a:lnTo>
                <a:lnTo>
                  <a:pt x="1082471" y="0"/>
                </a:lnTo>
                <a:lnTo>
                  <a:pt x="1204631" y="403805"/>
                </a:lnTo>
                <a:close/>
              </a:path>
              <a:path w="2165350" h="1102995">
                <a:moveTo>
                  <a:pt x="1435377" y="485245"/>
                </a:moveTo>
                <a:lnTo>
                  <a:pt x="729565" y="485245"/>
                </a:lnTo>
                <a:lnTo>
                  <a:pt x="705812" y="67866"/>
                </a:lnTo>
                <a:lnTo>
                  <a:pt x="960311" y="403805"/>
                </a:lnTo>
                <a:lnTo>
                  <a:pt x="1440012" y="403805"/>
                </a:lnTo>
                <a:lnTo>
                  <a:pt x="1435377" y="485245"/>
                </a:lnTo>
                <a:close/>
              </a:path>
              <a:path w="2165350" h="1102995">
                <a:moveTo>
                  <a:pt x="1440012" y="403805"/>
                </a:moveTo>
                <a:lnTo>
                  <a:pt x="1204631" y="403805"/>
                </a:lnTo>
                <a:lnTo>
                  <a:pt x="1459130" y="67866"/>
                </a:lnTo>
                <a:lnTo>
                  <a:pt x="1440012" y="403805"/>
                </a:lnTo>
                <a:close/>
              </a:path>
              <a:path w="2165350" h="1102995">
                <a:moveTo>
                  <a:pt x="1625403" y="644732"/>
                </a:moveTo>
                <a:lnTo>
                  <a:pt x="539539" y="644732"/>
                </a:lnTo>
                <a:lnTo>
                  <a:pt x="376659" y="257893"/>
                </a:lnTo>
                <a:lnTo>
                  <a:pt x="729565" y="485245"/>
                </a:lnTo>
                <a:lnTo>
                  <a:pt x="1692556" y="485245"/>
                </a:lnTo>
                <a:lnTo>
                  <a:pt x="1625403" y="644732"/>
                </a:lnTo>
                <a:close/>
              </a:path>
              <a:path w="2165350" h="1102995">
                <a:moveTo>
                  <a:pt x="1692556" y="485245"/>
                </a:moveTo>
                <a:lnTo>
                  <a:pt x="1435377" y="485245"/>
                </a:lnTo>
                <a:lnTo>
                  <a:pt x="1788283" y="257893"/>
                </a:lnTo>
                <a:lnTo>
                  <a:pt x="1692556" y="485245"/>
                </a:lnTo>
                <a:close/>
              </a:path>
              <a:path w="2165350" h="1102995">
                <a:moveTo>
                  <a:pt x="1795140" y="1102897"/>
                </a:moveTo>
                <a:lnTo>
                  <a:pt x="369802" y="1102897"/>
                </a:lnTo>
                <a:lnTo>
                  <a:pt x="376659" y="1099438"/>
                </a:lnTo>
                <a:lnTo>
                  <a:pt x="0" y="909411"/>
                </a:lnTo>
                <a:lnTo>
                  <a:pt x="417379" y="858511"/>
                </a:lnTo>
                <a:lnTo>
                  <a:pt x="132339" y="549719"/>
                </a:lnTo>
                <a:lnTo>
                  <a:pt x="539539" y="644732"/>
                </a:lnTo>
                <a:lnTo>
                  <a:pt x="1944898" y="644732"/>
                </a:lnTo>
                <a:lnTo>
                  <a:pt x="1747563" y="858511"/>
                </a:lnTo>
                <a:lnTo>
                  <a:pt x="2164943" y="909411"/>
                </a:lnTo>
                <a:lnTo>
                  <a:pt x="1788283" y="1099438"/>
                </a:lnTo>
                <a:lnTo>
                  <a:pt x="1795140" y="1102897"/>
                </a:lnTo>
                <a:close/>
              </a:path>
              <a:path w="2165350" h="1102995">
                <a:moveTo>
                  <a:pt x="1944898" y="644732"/>
                </a:moveTo>
                <a:lnTo>
                  <a:pt x="1625403" y="644732"/>
                </a:lnTo>
                <a:lnTo>
                  <a:pt x="2032603" y="549719"/>
                </a:lnTo>
                <a:lnTo>
                  <a:pt x="1944898" y="6447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1723" y="4863174"/>
              <a:ext cx="5412439" cy="48339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75561" y="4863174"/>
              <a:ext cx="5412439" cy="483391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15186" y="2353327"/>
            <a:ext cx="1642110" cy="601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50" b="1" spc="-10" dirty="0">
                <a:latin typeface="Calibri"/>
                <a:cs typeface="Calibri"/>
              </a:rPr>
              <a:t>Lawyers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5186" y="3222778"/>
            <a:ext cx="4824095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5"/>
              </a:spcBef>
            </a:pP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Independent</a:t>
            </a:r>
            <a:r>
              <a:rPr sz="2650" spc="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practitioners</a:t>
            </a:r>
            <a:r>
              <a:rPr sz="2650" spc="3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4D4D4D"/>
                </a:solidFill>
                <a:latin typeface="Calibri"/>
                <a:cs typeface="Calibri"/>
              </a:rPr>
              <a:t>needing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efficient</a:t>
            </a:r>
            <a:r>
              <a:rPr sz="2650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case</a:t>
            </a:r>
            <a:r>
              <a:rPr sz="2650" spc="-1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4D4D4D"/>
                </a:solidFill>
                <a:latin typeface="Calibri"/>
                <a:cs typeface="Calibri"/>
              </a:rPr>
              <a:t>management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9022" y="3222778"/>
            <a:ext cx="3912235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5"/>
              </a:spcBef>
            </a:pP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Litigants</a:t>
            </a:r>
            <a:r>
              <a:rPr sz="2650" spc="-1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seeking better</a:t>
            </a:r>
            <a:r>
              <a:rPr sz="2650" spc="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spc="-20" dirty="0">
                <a:solidFill>
                  <a:srgbClr val="4D4D4D"/>
                </a:solidFill>
                <a:latin typeface="Calibri"/>
                <a:cs typeface="Calibri"/>
              </a:rPr>
              <a:t>case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updates</a:t>
            </a:r>
            <a:r>
              <a:rPr sz="2650" spc="2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sz="265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4D4D4D"/>
                </a:solidFill>
                <a:latin typeface="Calibri"/>
                <a:cs typeface="Calibri"/>
              </a:rPr>
              <a:t>access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9022" y="2353327"/>
            <a:ext cx="1367790" cy="601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50" b="1" spc="-10" dirty="0">
                <a:latin typeface="Calibri"/>
                <a:cs typeface="Calibri"/>
              </a:rPr>
              <a:t>Clients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62861" y="3222778"/>
            <a:ext cx="4145915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5"/>
              </a:spcBef>
            </a:pP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Administrative</a:t>
            </a:r>
            <a:r>
              <a:rPr sz="2650" spc="-9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staff</a:t>
            </a:r>
            <a:r>
              <a:rPr sz="2650" spc="-9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spc="-10" dirty="0">
                <a:solidFill>
                  <a:srgbClr val="4D4D4D"/>
                </a:solidFill>
                <a:latin typeface="Calibri"/>
                <a:cs typeface="Calibri"/>
              </a:rPr>
              <a:t>managing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files</a:t>
            </a:r>
            <a:r>
              <a:rPr sz="2650" spc="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sz="2650" spc="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dirty="0">
                <a:solidFill>
                  <a:srgbClr val="4D4D4D"/>
                </a:solidFill>
                <a:latin typeface="Calibri"/>
                <a:cs typeface="Calibri"/>
              </a:rPr>
              <a:t>research</a:t>
            </a:r>
            <a:r>
              <a:rPr sz="2650" spc="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650" spc="-20" dirty="0">
                <a:solidFill>
                  <a:srgbClr val="4D4D4D"/>
                </a:solidFill>
                <a:latin typeface="Calibri"/>
                <a:cs typeface="Calibri"/>
              </a:rPr>
              <a:t>tasks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62861" y="2353327"/>
            <a:ext cx="2835910" cy="601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50" b="1" spc="-10" dirty="0">
                <a:latin typeface="Calibri"/>
                <a:cs typeface="Calibri"/>
              </a:rPr>
              <a:t>Clerks/Interns</a:t>
            </a:r>
            <a:endParaRPr sz="37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4863174"/>
            <a:ext cx="5412439" cy="483391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78427" y="681815"/>
            <a:ext cx="487108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9540" algn="l"/>
              </a:tabLst>
            </a:pPr>
            <a:r>
              <a:rPr sz="7500" i="0" spc="-450" dirty="0">
                <a:latin typeface="Calibri"/>
                <a:cs typeface="Calibri"/>
              </a:rPr>
              <a:t>T</a:t>
            </a:r>
            <a:r>
              <a:rPr sz="7500" i="0" spc="120" dirty="0">
                <a:latin typeface="Calibri"/>
                <a:cs typeface="Calibri"/>
              </a:rPr>
              <a:t>a</a:t>
            </a:r>
            <a:r>
              <a:rPr sz="7500" i="0" spc="30" dirty="0">
                <a:latin typeface="Calibri"/>
                <a:cs typeface="Calibri"/>
              </a:rPr>
              <a:t>r</a:t>
            </a:r>
            <a:r>
              <a:rPr sz="7500" i="0" spc="35" dirty="0">
                <a:latin typeface="Calibri"/>
                <a:cs typeface="Calibri"/>
              </a:rPr>
              <a:t>g</a:t>
            </a:r>
            <a:r>
              <a:rPr sz="7500" i="0" spc="65" dirty="0">
                <a:latin typeface="Calibri"/>
                <a:cs typeface="Calibri"/>
              </a:rPr>
              <a:t>e</a:t>
            </a:r>
            <a:r>
              <a:rPr sz="7500" i="0" spc="120" dirty="0">
                <a:latin typeface="Calibri"/>
                <a:cs typeface="Calibri"/>
              </a:rPr>
              <a:t>t</a:t>
            </a:r>
            <a:r>
              <a:rPr sz="7500" i="0" dirty="0">
                <a:latin typeface="Calibri"/>
                <a:cs typeface="Calibri"/>
              </a:rPr>
              <a:t>	</a:t>
            </a:r>
            <a:r>
              <a:rPr sz="7500" i="0" spc="-10" dirty="0">
                <a:latin typeface="Calibri"/>
                <a:cs typeface="Calibri"/>
              </a:rPr>
              <a:t>Users</a:t>
            </a:r>
            <a:endParaRPr sz="7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5957" y="0"/>
              <a:ext cx="6952042" cy="10286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7423" y="159689"/>
            <a:ext cx="6451600" cy="265684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 marR="5080">
              <a:lnSpc>
                <a:spcPts val="9980"/>
              </a:lnSpc>
              <a:spcBef>
                <a:spcPts val="955"/>
              </a:spcBef>
            </a:pPr>
            <a:r>
              <a:rPr sz="8950" dirty="0">
                <a:solidFill>
                  <a:srgbClr val="FFFFFF"/>
                </a:solidFill>
              </a:rPr>
              <a:t>Our</a:t>
            </a:r>
            <a:r>
              <a:rPr sz="8950" spc="-125" dirty="0">
                <a:solidFill>
                  <a:srgbClr val="FFFFFF"/>
                </a:solidFill>
              </a:rPr>
              <a:t> </a:t>
            </a:r>
            <a:r>
              <a:rPr sz="8950" spc="-10" dirty="0">
                <a:solidFill>
                  <a:srgbClr val="FFFFFF"/>
                </a:solidFill>
              </a:rPr>
              <a:t>Proposed Solution</a:t>
            </a:r>
            <a:endParaRPr sz="8950"/>
          </a:p>
        </p:txBody>
      </p:sp>
      <p:sp>
        <p:nvSpPr>
          <p:cNvPr id="6" name="object 6"/>
          <p:cNvSpPr txBox="1"/>
          <p:nvPr/>
        </p:nvSpPr>
        <p:spPr>
          <a:xfrm>
            <a:off x="827423" y="3691236"/>
            <a:ext cx="8451215" cy="13773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5270"/>
              </a:lnSpc>
              <a:spcBef>
                <a:spcPts val="305"/>
              </a:spcBef>
            </a:pPr>
            <a:r>
              <a:rPr sz="4450" spc="-30" dirty="0">
                <a:solidFill>
                  <a:srgbClr val="FFFFFF"/>
                </a:solidFill>
                <a:latin typeface="Calibri"/>
                <a:cs typeface="Calibri"/>
              </a:rPr>
              <a:t>Transforming</a:t>
            </a:r>
            <a:r>
              <a:rPr sz="44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44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50" dirty="0">
                <a:solidFill>
                  <a:srgbClr val="FFFFFF"/>
                </a:solidFill>
                <a:latin typeface="Calibri"/>
                <a:cs typeface="Calibri"/>
              </a:rPr>
              <a:t>Indian</a:t>
            </a:r>
            <a:r>
              <a:rPr sz="44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50" dirty="0">
                <a:solidFill>
                  <a:srgbClr val="FFFFFF"/>
                </a:solidFill>
                <a:latin typeface="Calibri"/>
                <a:cs typeface="Calibri"/>
              </a:rPr>
              <a:t>legal</a:t>
            </a:r>
            <a:r>
              <a:rPr sz="44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50" spc="-10" dirty="0">
                <a:solidFill>
                  <a:srgbClr val="FFFFFF"/>
                </a:solidFill>
                <a:latin typeface="Calibri"/>
                <a:cs typeface="Calibri"/>
              </a:rPr>
              <a:t>system </a:t>
            </a:r>
            <a:r>
              <a:rPr sz="445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44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5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44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50" spc="-10" dirty="0">
                <a:solidFill>
                  <a:srgbClr val="FFFFFF"/>
                </a:solidFill>
                <a:latin typeface="Calibri"/>
                <a:cs typeface="Calibri"/>
              </a:rPr>
              <a:t>AI-</a:t>
            </a:r>
            <a:r>
              <a:rPr sz="4450" dirty="0">
                <a:solidFill>
                  <a:srgbClr val="FFFFFF"/>
                </a:solidFill>
                <a:latin typeface="Calibri"/>
                <a:cs typeface="Calibri"/>
              </a:rPr>
              <a:t>powered</a:t>
            </a:r>
            <a:r>
              <a:rPr sz="44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50" spc="-10" dirty="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endParaRPr sz="44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8725" y="3071931"/>
            <a:ext cx="9930130" cy="5615305"/>
            <a:chOff x="798725" y="3071931"/>
            <a:chExt cx="9930130" cy="5615305"/>
          </a:xfrm>
        </p:grpSpPr>
        <p:sp>
          <p:nvSpPr>
            <p:cNvPr id="8" name="object 8"/>
            <p:cNvSpPr/>
            <p:nvPr/>
          </p:nvSpPr>
          <p:spPr>
            <a:xfrm>
              <a:off x="813012" y="3086218"/>
              <a:ext cx="9901555" cy="0"/>
            </a:xfrm>
            <a:custGeom>
              <a:avLst/>
              <a:gdLst/>
              <a:ahLst/>
              <a:cxnLst/>
              <a:rect l="l" t="t" r="r" b="b"/>
              <a:pathLst>
                <a:path w="9901555">
                  <a:moveTo>
                    <a:pt x="0" y="0"/>
                  </a:moveTo>
                  <a:lnTo>
                    <a:pt x="9901397" y="0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174" y="5686424"/>
              <a:ext cx="85725" cy="85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174" y="6657974"/>
              <a:ext cx="85725" cy="85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174" y="7629524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174" y="8601074"/>
              <a:ext cx="85725" cy="8572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49213" y="5391327"/>
            <a:ext cx="9224645" cy="391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9209">
              <a:lnSpc>
                <a:spcPct val="115900"/>
              </a:lnSpc>
              <a:spcBef>
                <a:spcPts val="95"/>
              </a:spcBef>
            </a:pP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Automated</a:t>
            </a:r>
            <a:r>
              <a:rPr sz="27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27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35" dirty="0">
                <a:solidFill>
                  <a:srgbClr val="FFFFFF"/>
                </a:solidFill>
                <a:latin typeface="Calibri"/>
                <a:cs typeface="Calibri"/>
              </a:rPr>
              <a:t>Tracker:</a:t>
            </a:r>
            <a:r>
              <a:rPr sz="27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Scrapes</a:t>
            </a:r>
            <a:r>
              <a:rPr sz="27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e-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Courts</a:t>
            </a:r>
            <a:r>
              <a:rPr sz="27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75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7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instant</a:t>
            </a:r>
            <a:r>
              <a:rPr sz="275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status updates.</a:t>
            </a:r>
            <a:endParaRPr sz="2750">
              <a:latin typeface="Calibri"/>
              <a:cs typeface="Calibri"/>
            </a:endParaRPr>
          </a:p>
          <a:p>
            <a:pPr marL="12700" marR="190500">
              <a:lnSpc>
                <a:spcPct val="115900"/>
              </a:lnSpc>
              <a:spcBef>
                <a:spcPts val="5"/>
              </a:spcBef>
            </a:pP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Semantic</a:t>
            </a:r>
            <a:r>
              <a:rPr sz="27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27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7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OCR:</a:t>
            </a:r>
            <a:r>
              <a:rPr sz="27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30" dirty="0">
                <a:solidFill>
                  <a:srgbClr val="FFFFFF"/>
                </a:solidFill>
                <a:latin typeface="Calibri"/>
                <a:cs typeface="Calibri"/>
              </a:rPr>
              <a:t>Transforms</a:t>
            </a:r>
            <a:r>
              <a:rPr sz="27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scans/PDFs</a:t>
            </a:r>
            <a:r>
              <a:rPr sz="27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75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searchable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legal</a:t>
            </a:r>
            <a:r>
              <a:rPr sz="275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7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7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40" dirty="0">
                <a:solidFill>
                  <a:srgbClr val="FFFFFF"/>
                </a:solidFill>
                <a:latin typeface="Calibri"/>
                <a:cs typeface="Calibri"/>
              </a:rPr>
              <a:t>context-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aware</a:t>
            </a:r>
            <a:r>
              <a:rPr sz="27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indexing.</a:t>
            </a:r>
            <a:endParaRPr sz="2750">
              <a:latin typeface="Calibri"/>
              <a:cs typeface="Calibri"/>
            </a:endParaRPr>
          </a:p>
          <a:p>
            <a:pPr marL="12700" marR="327025">
              <a:lnSpc>
                <a:spcPct val="115900"/>
              </a:lnSpc>
            </a:pP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Inconsistency</a:t>
            </a:r>
            <a:r>
              <a:rPr sz="27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25" dirty="0">
                <a:solidFill>
                  <a:srgbClr val="FFFFFF"/>
                </a:solidFill>
                <a:latin typeface="Calibri"/>
                <a:cs typeface="Calibri"/>
              </a:rPr>
              <a:t>Tracking:</a:t>
            </a:r>
            <a:r>
              <a:rPr sz="27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27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r>
              <a:rPr sz="27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detects</a:t>
            </a:r>
            <a:r>
              <a:rPr sz="27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logical</a:t>
            </a:r>
            <a:r>
              <a:rPr sz="27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contradictions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27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evidence</a:t>
            </a:r>
            <a:r>
              <a:rPr sz="27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7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witness</a:t>
            </a:r>
            <a:r>
              <a:rPr sz="27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statements.</a:t>
            </a:r>
            <a:endParaRPr sz="2750">
              <a:latin typeface="Calibri"/>
              <a:cs typeface="Calibri"/>
            </a:endParaRPr>
          </a:p>
          <a:p>
            <a:pPr marL="12700" marR="5080">
              <a:lnSpc>
                <a:spcPct val="115900"/>
              </a:lnSpc>
            </a:pP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AI-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Legal</a:t>
            </a:r>
            <a:r>
              <a:rPr sz="27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Assistant:</a:t>
            </a:r>
            <a:r>
              <a:rPr sz="27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Summarizes</a:t>
            </a:r>
            <a:r>
              <a:rPr sz="27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27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court</a:t>
            </a:r>
            <a:r>
              <a:rPr sz="27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orders</a:t>
            </a:r>
            <a:r>
              <a:rPr sz="27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7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simple, layperson</a:t>
            </a:r>
            <a:r>
              <a:rPr sz="275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Calibri"/>
                <a:cs typeface="Calibri"/>
              </a:rPr>
              <a:t>English.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73185" y="9284254"/>
            <a:ext cx="2165350" cy="1003300"/>
          </a:xfrm>
          <a:custGeom>
            <a:avLst/>
            <a:gdLst/>
            <a:ahLst/>
            <a:cxnLst/>
            <a:rect l="l" t="t" r="r" b="b"/>
            <a:pathLst>
              <a:path w="2165350" h="1003300">
                <a:moveTo>
                  <a:pt x="1204631" y="403805"/>
                </a:moveTo>
                <a:lnTo>
                  <a:pt x="960311" y="403805"/>
                </a:lnTo>
                <a:lnTo>
                  <a:pt x="1082471" y="0"/>
                </a:lnTo>
                <a:lnTo>
                  <a:pt x="1204631" y="403805"/>
                </a:lnTo>
                <a:close/>
              </a:path>
              <a:path w="2165350" h="1003300">
                <a:moveTo>
                  <a:pt x="1435377" y="485246"/>
                </a:moveTo>
                <a:lnTo>
                  <a:pt x="729565" y="485246"/>
                </a:lnTo>
                <a:lnTo>
                  <a:pt x="705811" y="67866"/>
                </a:lnTo>
                <a:lnTo>
                  <a:pt x="960311" y="403805"/>
                </a:lnTo>
                <a:lnTo>
                  <a:pt x="1440012" y="403805"/>
                </a:lnTo>
                <a:lnTo>
                  <a:pt x="1435377" y="485246"/>
                </a:lnTo>
                <a:close/>
              </a:path>
              <a:path w="2165350" h="1003300">
                <a:moveTo>
                  <a:pt x="1440012" y="403805"/>
                </a:moveTo>
                <a:lnTo>
                  <a:pt x="1204631" y="403805"/>
                </a:lnTo>
                <a:lnTo>
                  <a:pt x="1459131" y="67866"/>
                </a:lnTo>
                <a:lnTo>
                  <a:pt x="1440012" y="403805"/>
                </a:lnTo>
                <a:close/>
              </a:path>
              <a:path w="2165350" h="1003300">
                <a:moveTo>
                  <a:pt x="1625403" y="644732"/>
                </a:moveTo>
                <a:lnTo>
                  <a:pt x="539539" y="644732"/>
                </a:lnTo>
                <a:lnTo>
                  <a:pt x="376659" y="257893"/>
                </a:lnTo>
                <a:lnTo>
                  <a:pt x="729565" y="485246"/>
                </a:lnTo>
                <a:lnTo>
                  <a:pt x="1692556" y="485246"/>
                </a:lnTo>
                <a:lnTo>
                  <a:pt x="1625403" y="644732"/>
                </a:lnTo>
                <a:close/>
              </a:path>
              <a:path w="2165350" h="1003300">
                <a:moveTo>
                  <a:pt x="1692556" y="485246"/>
                </a:moveTo>
                <a:lnTo>
                  <a:pt x="1435377" y="485246"/>
                </a:lnTo>
                <a:lnTo>
                  <a:pt x="1788283" y="257893"/>
                </a:lnTo>
                <a:lnTo>
                  <a:pt x="1692556" y="485246"/>
                </a:lnTo>
                <a:close/>
              </a:path>
              <a:path w="2165350" h="1003300">
                <a:moveTo>
                  <a:pt x="1979942" y="1002745"/>
                </a:moveTo>
                <a:lnTo>
                  <a:pt x="185001" y="1002745"/>
                </a:lnTo>
                <a:lnTo>
                  <a:pt x="0" y="909412"/>
                </a:lnTo>
                <a:lnTo>
                  <a:pt x="417379" y="858512"/>
                </a:lnTo>
                <a:lnTo>
                  <a:pt x="132339" y="549719"/>
                </a:lnTo>
                <a:lnTo>
                  <a:pt x="539539" y="644732"/>
                </a:lnTo>
                <a:lnTo>
                  <a:pt x="1944898" y="644732"/>
                </a:lnTo>
                <a:lnTo>
                  <a:pt x="1747563" y="858512"/>
                </a:lnTo>
                <a:lnTo>
                  <a:pt x="2164943" y="909412"/>
                </a:lnTo>
                <a:lnTo>
                  <a:pt x="1979942" y="1002745"/>
                </a:lnTo>
                <a:close/>
              </a:path>
              <a:path w="2165350" h="1003300">
                <a:moveTo>
                  <a:pt x="1944898" y="644732"/>
                </a:moveTo>
                <a:lnTo>
                  <a:pt x="1625403" y="644732"/>
                </a:lnTo>
                <a:lnTo>
                  <a:pt x="2032603" y="549719"/>
                </a:lnTo>
                <a:lnTo>
                  <a:pt x="1944898" y="6447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735213" cy="1027934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206350" y="64017"/>
            <a:ext cx="7169784" cy="1808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7005"/>
              </a:lnSpc>
              <a:spcBef>
                <a:spcPts val="125"/>
              </a:spcBef>
            </a:pPr>
            <a:r>
              <a:rPr sz="6050" spc="-10" dirty="0">
                <a:solidFill>
                  <a:srgbClr val="FFFFFF"/>
                </a:solidFill>
              </a:rPr>
              <a:t>Technology</a:t>
            </a:r>
            <a:endParaRPr sz="6050"/>
          </a:p>
          <a:p>
            <a:pPr marL="12700">
              <a:lnSpc>
                <a:spcPts val="7005"/>
              </a:lnSpc>
            </a:pPr>
            <a:r>
              <a:rPr sz="6050" dirty="0">
                <a:solidFill>
                  <a:srgbClr val="FFFFFF"/>
                </a:solidFill>
              </a:rPr>
              <a:t>Architecture</a:t>
            </a:r>
            <a:r>
              <a:rPr sz="6050" spc="-60" dirty="0">
                <a:solidFill>
                  <a:srgbClr val="FFFFFF"/>
                </a:solidFill>
              </a:rPr>
              <a:t> </a:t>
            </a:r>
            <a:r>
              <a:rPr sz="6050" spc="-10" dirty="0">
                <a:solidFill>
                  <a:srgbClr val="FFFFFF"/>
                </a:solidFill>
              </a:rPr>
              <a:t>Overview</a:t>
            </a:r>
            <a:endParaRPr sz="6050"/>
          </a:p>
        </p:txBody>
      </p:sp>
      <p:grpSp>
        <p:nvGrpSpPr>
          <p:cNvPr id="6" name="object 6"/>
          <p:cNvGrpSpPr/>
          <p:nvPr/>
        </p:nvGrpSpPr>
        <p:grpSpPr>
          <a:xfrm>
            <a:off x="10395017" y="2467878"/>
            <a:ext cx="95250" cy="5924550"/>
            <a:chOff x="10395017" y="2467878"/>
            <a:chExt cx="95250" cy="592455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95017" y="2467878"/>
              <a:ext cx="95250" cy="95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95017" y="4410978"/>
              <a:ext cx="95250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95017" y="6354078"/>
              <a:ext cx="95250" cy="952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95017" y="8297178"/>
              <a:ext cx="95250" cy="95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991792" y="2026534"/>
            <a:ext cx="7535545" cy="779780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600"/>
              </a:spcBef>
            </a:pP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Frontend:</a:t>
            </a:r>
            <a:endParaRPr sz="3000">
              <a:latin typeface="Calibri"/>
              <a:cs typeface="Calibri"/>
            </a:endParaRPr>
          </a:p>
          <a:p>
            <a:pPr marL="12700" marR="115570">
              <a:lnSpc>
                <a:spcPts val="5100"/>
              </a:lnSpc>
              <a:spcBef>
                <a:spcPts val="420"/>
              </a:spcBef>
            </a:pP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Flutter</a:t>
            </a:r>
            <a:r>
              <a:rPr sz="3000" b="1" spc="-85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/</a:t>
            </a:r>
            <a:r>
              <a:rPr sz="3000" b="1" spc="-85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React</a:t>
            </a:r>
            <a:r>
              <a:rPr sz="3000" b="1" spc="-85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Native</a:t>
            </a:r>
            <a:r>
              <a:rPr sz="3000" b="1" spc="-75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30" dirty="0">
                <a:solidFill>
                  <a:srgbClr val="FFFFFF"/>
                </a:solidFill>
                <a:latin typeface="Calibri"/>
                <a:cs typeface="Calibri"/>
              </a:rPr>
              <a:t>cross-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r>
              <a:rPr sz="3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mobile accessibility.</a:t>
            </a:r>
            <a:endParaRPr sz="3000">
              <a:latin typeface="Calibri"/>
              <a:cs typeface="Calibri"/>
            </a:endParaRPr>
          </a:p>
          <a:p>
            <a:pPr marL="659765">
              <a:lnSpc>
                <a:spcPct val="100000"/>
              </a:lnSpc>
              <a:spcBef>
                <a:spcPts val="1080"/>
              </a:spcBef>
            </a:pP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Backend:</a:t>
            </a:r>
            <a:endParaRPr sz="3000">
              <a:latin typeface="Calibri"/>
              <a:cs typeface="Calibri"/>
            </a:endParaRPr>
          </a:p>
          <a:p>
            <a:pPr marL="12700" marR="226060">
              <a:lnSpc>
                <a:spcPts val="5100"/>
              </a:lnSpc>
              <a:spcBef>
                <a:spcPts val="420"/>
              </a:spcBef>
            </a:pP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Python</a:t>
            </a:r>
            <a:r>
              <a:rPr sz="3000" b="1" spc="-85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D6AE4"/>
                </a:solidFill>
                <a:latin typeface="Calibri"/>
                <a:cs typeface="Calibri"/>
              </a:rPr>
              <a:t>(FastAPI)</a:t>
            </a:r>
            <a:r>
              <a:rPr sz="3000" b="1" spc="-80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high-performance</a:t>
            </a:r>
            <a:r>
              <a:rPr sz="3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request handling.</a:t>
            </a:r>
            <a:endParaRPr sz="3000">
              <a:latin typeface="Calibri"/>
              <a:cs typeface="Calibri"/>
            </a:endParaRPr>
          </a:p>
          <a:p>
            <a:pPr marL="659765">
              <a:lnSpc>
                <a:spcPct val="100000"/>
              </a:lnSpc>
              <a:spcBef>
                <a:spcPts val="1080"/>
              </a:spcBef>
            </a:pP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Database:</a:t>
            </a:r>
            <a:endParaRPr sz="3000">
              <a:latin typeface="Calibri"/>
              <a:cs typeface="Calibri"/>
            </a:endParaRPr>
          </a:p>
          <a:p>
            <a:pPr marL="12700" marR="21590">
              <a:lnSpc>
                <a:spcPts val="5100"/>
              </a:lnSpc>
              <a:spcBef>
                <a:spcPts val="420"/>
              </a:spcBef>
            </a:pP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MongoDB</a:t>
            </a:r>
            <a:r>
              <a:rPr sz="3000" b="1" spc="-114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Atlas</a:t>
            </a:r>
            <a:r>
              <a:rPr sz="3000" b="1" spc="-110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(Cloud)</a:t>
            </a:r>
            <a:r>
              <a:rPr sz="3000" b="1" spc="-105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secure,</a:t>
            </a:r>
            <a:r>
              <a:rPr sz="3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r>
              <a:rPr sz="3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Calibri"/>
                <a:cs typeface="Calibri"/>
              </a:rPr>
              <a:t>case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3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storage.</a:t>
            </a:r>
            <a:endParaRPr sz="3000">
              <a:latin typeface="Calibri"/>
              <a:cs typeface="Calibri"/>
            </a:endParaRPr>
          </a:p>
          <a:p>
            <a:pPr marL="659765">
              <a:lnSpc>
                <a:spcPct val="100000"/>
              </a:lnSpc>
              <a:spcBef>
                <a:spcPts val="1080"/>
              </a:spcBef>
            </a:pP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Intelligence:</a:t>
            </a:r>
            <a:endParaRPr sz="3000">
              <a:latin typeface="Calibri"/>
              <a:cs typeface="Calibri"/>
            </a:endParaRPr>
          </a:p>
          <a:p>
            <a:pPr marL="12700" marR="5080">
              <a:lnSpc>
                <a:spcPts val="5100"/>
              </a:lnSpc>
              <a:spcBef>
                <a:spcPts val="220"/>
              </a:spcBef>
            </a:pP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OpenAI</a:t>
            </a:r>
            <a:r>
              <a:rPr sz="3000" b="1" spc="-80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API</a:t>
            </a:r>
            <a:r>
              <a:rPr sz="3000" b="1" spc="-75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D6AE4"/>
                </a:solidFill>
                <a:latin typeface="Calibri"/>
                <a:cs typeface="Calibri"/>
              </a:rPr>
              <a:t>LangChain</a:t>
            </a:r>
            <a:r>
              <a:rPr sz="3000" b="1" spc="-75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Natural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Language Processing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(NLP)</a:t>
            </a:r>
            <a:r>
              <a:rPr sz="3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semantic</a:t>
            </a:r>
            <a:r>
              <a:rPr sz="3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research.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144000" y="2991421"/>
              <a:ext cx="8653780" cy="0"/>
            </a:xfrm>
            <a:custGeom>
              <a:avLst/>
              <a:gdLst/>
              <a:ahLst/>
              <a:cxnLst/>
              <a:rect l="l" t="t" r="r" b="b"/>
              <a:pathLst>
                <a:path w="8653780">
                  <a:moveTo>
                    <a:pt x="0" y="0"/>
                  </a:moveTo>
                  <a:lnTo>
                    <a:pt x="8653744" y="0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31300" y="210315"/>
            <a:ext cx="8099425" cy="2419985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 marR="5080">
              <a:lnSpc>
                <a:spcPts val="9080"/>
              </a:lnSpc>
              <a:spcBef>
                <a:spcPts val="895"/>
              </a:spcBef>
            </a:pPr>
            <a:r>
              <a:rPr sz="8150" spc="-595" dirty="0">
                <a:solidFill>
                  <a:srgbClr val="FFFFFF"/>
                </a:solidFill>
              </a:rPr>
              <a:t>T</a:t>
            </a:r>
            <a:r>
              <a:rPr sz="8150" spc="-20" dirty="0">
                <a:solidFill>
                  <a:srgbClr val="FFFFFF"/>
                </a:solidFill>
              </a:rPr>
              <a:t>o</a:t>
            </a:r>
            <a:r>
              <a:rPr sz="8150" spc="10" dirty="0">
                <a:solidFill>
                  <a:srgbClr val="FFFFFF"/>
                </a:solidFill>
              </a:rPr>
              <a:t>w</a:t>
            </a:r>
            <a:r>
              <a:rPr sz="8150" spc="15" dirty="0">
                <a:solidFill>
                  <a:srgbClr val="FFFFFF"/>
                </a:solidFill>
              </a:rPr>
              <a:t>a</a:t>
            </a:r>
            <a:r>
              <a:rPr sz="8150" spc="10" dirty="0">
                <a:solidFill>
                  <a:srgbClr val="FFFFFF"/>
                </a:solidFill>
              </a:rPr>
              <a:t>r</a:t>
            </a:r>
            <a:r>
              <a:rPr sz="8150" spc="15" dirty="0">
                <a:solidFill>
                  <a:srgbClr val="FFFFFF"/>
                </a:solidFill>
              </a:rPr>
              <a:t>d</a:t>
            </a:r>
            <a:r>
              <a:rPr sz="8150" spc="20" dirty="0">
                <a:solidFill>
                  <a:srgbClr val="FFFFFF"/>
                </a:solidFill>
              </a:rPr>
              <a:t>s</a:t>
            </a:r>
            <a:r>
              <a:rPr sz="8150" spc="-175" dirty="0">
                <a:solidFill>
                  <a:srgbClr val="FFFFFF"/>
                </a:solidFill>
              </a:rPr>
              <a:t> </a:t>
            </a:r>
            <a:r>
              <a:rPr sz="8150" dirty="0">
                <a:solidFill>
                  <a:srgbClr val="FFFFFF"/>
                </a:solidFill>
              </a:rPr>
              <a:t>a</a:t>
            </a:r>
            <a:r>
              <a:rPr sz="8150" spc="-165" dirty="0">
                <a:solidFill>
                  <a:srgbClr val="FFFFFF"/>
                </a:solidFill>
              </a:rPr>
              <a:t> </a:t>
            </a:r>
            <a:r>
              <a:rPr sz="8150" spc="-10" dirty="0">
                <a:solidFill>
                  <a:srgbClr val="FFFFFF"/>
                </a:solidFill>
              </a:rPr>
              <a:t>Smarter </a:t>
            </a:r>
            <a:r>
              <a:rPr sz="8150" dirty="0">
                <a:solidFill>
                  <a:srgbClr val="FFFFFF"/>
                </a:solidFill>
              </a:rPr>
              <a:t>Justice</a:t>
            </a:r>
            <a:r>
              <a:rPr sz="8150" spc="-290" dirty="0">
                <a:solidFill>
                  <a:srgbClr val="FFFFFF"/>
                </a:solidFill>
              </a:rPr>
              <a:t> </a:t>
            </a:r>
            <a:r>
              <a:rPr sz="8150" spc="-10" dirty="0">
                <a:solidFill>
                  <a:srgbClr val="FFFFFF"/>
                </a:solidFill>
              </a:rPr>
              <a:t>System</a:t>
            </a:r>
            <a:endParaRPr sz="815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8458199" cy="102869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255904">
              <a:lnSpc>
                <a:spcPts val="4130"/>
              </a:lnSpc>
              <a:spcBef>
                <a:spcPts val="495"/>
              </a:spcBef>
            </a:pPr>
            <a:r>
              <a:rPr b="1" spc="-10" dirty="0">
                <a:solidFill>
                  <a:srgbClr val="0D6AE4"/>
                </a:solidFill>
                <a:latin typeface="Calibri"/>
                <a:cs typeface="Calibri"/>
              </a:rPr>
              <a:t>AI-</a:t>
            </a:r>
            <a:r>
              <a:rPr b="1" dirty="0">
                <a:solidFill>
                  <a:srgbClr val="0D6AE4"/>
                </a:solidFill>
                <a:latin typeface="Calibri"/>
                <a:cs typeface="Calibri"/>
              </a:rPr>
              <a:t>Legis</a:t>
            </a:r>
            <a:r>
              <a:rPr b="1" spc="-85" dirty="0">
                <a:solidFill>
                  <a:srgbClr val="0D6AE4"/>
                </a:solidFill>
                <a:latin typeface="Calibri"/>
                <a:cs typeface="Calibri"/>
              </a:rPr>
              <a:t> </a:t>
            </a:r>
            <a:r>
              <a:rPr dirty="0"/>
              <a:t>bridges</a:t>
            </a:r>
            <a:r>
              <a:rPr spc="-85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gap</a:t>
            </a:r>
            <a:r>
              <a:rPr spc="-85" dirty="0"/>
              <a:t> </a:t>
            </a:r>
            <a:r>
              <a:rPr dirty="0"/>
              <a:t>between</a:t>
            </a:r>
            <a:r>
              <a:rPr spc="-85" dirty="0"/>
              <a:t> </a:t>
            </a:r>
            <a:r>
              <a:rPr spc="-10" dirty="0"/>
              <a:t>archaic </a:t>
            </a:r>
            <a:r>
              <a:rPr dirty="0"/>
              <a:t>legal</a:t>
            </a:r>
            <a:r>
              <a:rPr spc="-114" dirty="0"/>
              <a:t> </a:t>
            </a:r>
            <a:r>
              <a:rPr dirty="0"/>
              <a:t>practices</a:t>
            </a:r>
            <a:r>
              <a:rPr spc="-110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dirty="0"/>
              <a:t>modern</a:t>
            </a:r>
            <a:r>
              <a:rPr spc="-110" dirty="0"/>
              <a:t> </a:t>
            </a:r>
            <a:r>
              <a:rPr dirty="0"/>
              <a:t>digital</a:t>
            </a:r>
            <a:r>
              <a:rPr spc="-110" dirty="0"/>
              <a:t> </a:t>
            </a:r>
            <a:r>
              <a:rPr spc="-10" dirty="0"/>
              <a:t>standards </a:t>
            </a:r>
            <a:r>
              <a:rPr dirty="0"/>
              <a:t>by</a:t>
            </a:r>
            <a:r>
              <a:rPr spc="-125" dirty="0"/>
              <a:t> </a:t>
            </a:r>
            <a:r>
              <a:rPr spc="-10" dirty="0"/>
              <a:t>consolidating</a:t>
            </a:r>
            <a:r>
              <a:rPr spc="-125" dirty="0"/>
              <a:t> </a:t>
            </a:r>
            <a:r>
              <a:rPr spc="-10" dirty="0"/>
              <a:t>fragmented</a:t>
            </a:r>
            <a:r>
              <a:rPr spc="-120" dirty="0"/>
              <a:t> </a:t>
            </a:r>
            <a:r>
              <a:rPr dirty="0"/>
              <a:t>workflows</a:t>
            </a:r>
            <a:r>
              <a:rPr spc="-125" dirty="0"/>
              <a:t> </a:t>
            </a:r>
            <a:r>
              <a:rPr spc="-20" dirty="0"/>
              <a:t>into </a:t>
            </a:r>
            <a:r>
              <a:rPr dirty="0"/>
              <a:t>an</a:t>
            </a:r>
            <a:r>
              <a:rPr spc="-125" dirty="0"/>
              <a:t> </a:t>
            </a:r>
            <a:r>
              <a:rPr spc="-10" dirty="0"/>
              <a:t>intelligent,</a:t>
            </a:r>
            <a:r>
              <a:rPr spc="-125" dirty="0"/>
              <a:t> </a:t>
            </a:r>
            <a:r>
              <a:rPr spc="-20" dirty="0"/>
              <a:t>high-</a:t>
            </a:r>
            <a:r>
              <a:rPr dirty="0"/>
              <a:t>precision</a:t>
            </a:r>
            <a:r>
              <a:rPr spc="-125" dirty="0"/>
              <a:t> </a:t>
            </a:r>
            <a:r>
              <a:rPr dirty="0"/>
              <a:t>workspace</a:t>
            </a:r>
            <a:r>
              <a:rPr spc="-120" dirty="0"/>
              <a:t> </a:t>
            </a:r>
            <a:r>
              <a:rPr spc="-20" dirty="0"/>
              <a:t>that </a:t>
            </a:r>
            <a:r>
              <a:rPr dirty="0"/>
              <a:t>addresses</a:t>
            </a:r>
            <a:r>
              <a:rPr spc="-125" dirty="0"/>
              <a:t> </a:t>
            </a:r>
            <a:r>
              <a:rPr dirty="0"/>
              <a:t>lawyer</a:t>
            </a:r>
            <a:r>
              <a:rPr spc="-120" dirty="0"/>
              <a:t> </a:t>
            </a:r>
            <a:r>
              <a:rPr dirty="0"/>
              <a:t>burnout</a:t>
            </a:r>
            <a:r>
              <a:rPr spc="-120" dirty="0"/>
              <a:t> </a:t>
            </a:r>
            <a:r>
              <a:rPr dirty="0"/>
              <a:t>and</a:t>
            </a:r>
            <a:r>
              <a:rPr spc="-120" dirty="0"/>
              <a:t> </a:t>
            </a:r>
            <a:r>
              <a:rPr dirty="0"/>
              <a:t>client</a:t>
            </a:r>
            <a:r>
              <a:rPr spc="-120" dirty="0"/>
              <a:t> </a:t>
            </a:r>
            <a:r>
              <a:rPr spc="-10" dirty="0"/>
              <a:t>anxiety.</a:t>
            </a:r>
          </a:p>
          <a:p>
            <a:pPr marL="12700" marR="5080">
              <a:lnSpc>
                <a:spcPts val="4120"/>
              </a:lnSpc>
              <a:spcBef>
                <a:spcPts val="4375"/>
              </a:spcBef>
            </a:pPr>
            <a:r>
              <a:rPr dirty="0"/>
              <a:t>By</a:t>
            </a:r>
            <a:r>
              <a:rPr spc="-105" dirty="0"/>
              <a:t> </a:t>
            </a:r>
            <a:r>
              <a:rPr spc="-10" dirty="0"/>
              <a:t>leveraging</a:t>
            </a:r>
            <a:r>
              <a:rPr spc="-105" dirty="0"/>
              <a:t> </a:t>
            </a:r>
            <a:r>
              <a:rPr dirty="0"/>
              <a:t>semantic</a:t>
            </a:r>
            <a:r>
              <a:rPr spc="-105" dirty="0"/>
              <a:t> </a:t>
            </a:r>
            <a:r>
              <a:rPr dirty="0"/>
              <a:t>search</a:t>
            </a:r>
            <a:r>
              <a:rPr spc="-105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automated inconsistency</a:t>
            </a:r>
            <a:r>
              <a:rPr spc="-90" dirty="0"/>
              <a:t> </a:t>
            </a:r>
            <a:r>
              <a:rPr dirty="0"/>
              <a:t>detection,</a:t>
            </a:r>
            <a:r>
              <a:rPr spc="-90" dirty="0"/>
              <a:t> </a:t>
            </a:r>
            <a:r>
              <a:rPr dirty="0"/>
              <a:t>we</a:t>
            </a:r>
            <a:r>
              <a:rPr spc="-90" dirty="0"/>
              <a:t> </a:t>
            </a:r>
            <a:r>
              <a:rPr dirty="0"/>
              <a:t>aim</a:t>
            </a:r>
            <a:r>
              <a:rPr spc="-90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spc="-10" dirty="0"/>
              <a:t>eliminate </a:t>
            </a:r>
            <a:r>
              <a:rPr dirty="0"/>
              <a:t>data</a:t>
            </a:r>
            <a:r>
              <a:rPr spc="-95" dirty="0"/>
              <a:t> </a:t>
            </a:r>
            <a:r>
              <a:rPr dirty="0"/>
              <a:t>silos</a:t>
            </a:r>
            <a:r>
              <a:rPr spc="-9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accelerate</a:t>
            </a:r>
            <a:r>
              <a:rPr spc="-9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dirty="0"/>
              <a:t>judicial</a:t>
            </a:r>
            <a:r>
              <a:rPr spc="-95" dirty="0"/>
              <a:t> </a:t>
            </a:r>
            <a:r>
              <a:rPr spc="-10" dirty="0"/>
              <a:t>process, transforming</a:t>
            </a:r>
            <a:r>
              <a:rPr spc="-135" dirty="0"/>
              <a:t> </a:t>
            </a:r>
            <a:r>
              <a:rPr dirty="0"/>
              <a:t>case</a:t>
            </a:r>
            <a:r>
              <a:rPr spc="-130" dirty="0"/>
              <a:t> </a:t>
            </a:r>
            <a:r>
              <a:rPr dirty="0"/>
              <a:t>management</a:t>
            </a:r>
            <a:r>
              <a:rPr spc="-130" dirty="0"/>
              <a:t> </a:t>
            </a:r>
            <a:r>
              <a:rPr dirty="0"/>
              <a:t>from</a:t>
            </a:r>
            <a:r>
              <a:rPr spc="-130" dirty="0"/>
              <a:t> </a:t>
            </a:r>
            <a:r>
              <a:rPr spc="-50" dirty="0"/>
              <a:t>a </a:t>
            </a:r>
            <a:r>
              <a:rPr dirty="0"/>
              <a:t>reactive</a:t>
            </a:r>
            <a:r>
              <a:rPr spc="-114" dirty="0"/>
              <a:t> </a:t>
            </a:r>
            <a:r>
              <a:rPr dirty="0"/>
              <a:t>struggle</a:t>
            </a:r>
            <a:r>
              <a:rPr spc="-110" dirty="0"/>
              <a:t> </a:t>
            </a:r>
            <a:r>
              <a:rPr dirty="0"/>
              <a:t>into</a:t>
            </a:r>
            <a:r>
              <a:rPr spc="-110" dirty="0"/>
              <a:t> </a:t>
            </a:r>
            <a:r>
              <a:rPr dirty="0"/>
              <a:t>a</a:t>
            </a:r>
            <a:r>
              <a:rPr spc="-114" dirty="0"/>
              <a:t> </a:t>
            </a:r>
            <a:r>
              <a:rPr dirty="0"/>
              <a:t>proactive,</a:t>
            </a:r>
            <a:r>
              <a:rPr spc="-110" dirty="0"/>
              <a:t> </a:t>
            </a:r>
            <a:r>
              <a:rPr spc="-10" dirty="0"/>
              <a:t>transparent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9682" rIns="0" bIns="0" rtlCol="0">
            <a:spAutoFit/>
          </a:bodyPr>
          <a:lstStyle/>
          <a:p>
            <a:pPr marL="7849234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175" dirty="0"/>
              <a:t> </a:t>
            </a:r>
            <a:r>
              <a:rPr spc="-1115" dirty="0"/>
              <a:t>Y</a:t>
            </a:r>
            <a:r>
              <a:rPr spc="-50" dirty="0"/>
              <a:t>ou</a:t>
            </a:r>
            <a:r>
              <a:rPr spc="-45" dirty="0"/>
              <a:t>!</a:t>
            </a:r>
            <a:r>
              <a:rPr spc="-40" dirty="0"/>
              <a:t>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6367" y="4224401"/>
            <a:ext cx="5629275" cy="4977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0" b="1" dirty="0">
                <a:latin typeface="Calibri"/>
                <a:cs typeface="Calibri"/>
              </a:rPr>
              <a:t>Our</a:t>
            </a:r>
            <a:r>
              <a:rPr sz="9500" b="1" spc="-135" dirty="0">
                <a:latin typeface="Calibri"/>
                <a:cs typeface="Calibri"/>
              </a:rPr>
              <a:t> </a:t>
            </a:r>
            <a:r>
              <a:rPr sz="9500" b="1" spc="-680" dirty="0">
                <a:latin typeface="Calibri"/>
                <a:cs typeface="Calibri"/>
              </a:rPr>
              <a:t>T</a:t>
            </a:r>
            <a:r>
              <a:rPr sz="9500" b="1" spc="135" dirty="0">
                <a:latin typeface="Calibri"/>
                <a:cs typeface="Calibri"/>
              </a:rPr>
              <a:t>e</a:t>
            </a:r>
            <a:r>
              <a:rPr sz="9500" b="1" spc="140" dirty="0">
                <a:latin typeface="Calibri"/>
                <a:cs typeface="Calibri"/>
              </a:rPr>
              <a:t>am</a:t>
            </a:r>
            <a:r>
              <a:rPr sz="9500" b="1" spc="145" dirty="0">
                <a:latin typeface="Calibri"/>
                <a:cs typeface="Calibri"/>
              </a:rPr>
              <a:t>:</a:t>
            </a:r>
            <a:endParaRPr sz="9500">
              <a:latin typeface="Calibri"/>
              <a:cs typeface="Calibri"/>
            </a:endParaRPr>
          </a:p>
          <a:p>
            <a:pPr marL="12700" marR="5080">
              <a:lnSpc>
                <a:spcPct val="160500"/>
              </a:lnSpc>
              <a:spcBef>
                <a:spcPts val="1015"/>
              </a:spcBef>
            </a:pPr>
            <a:r>
              <a:rPr sz="3450" b="1" i="1" dirty="0">
                <a:solidFill>
                  <a:srgbClr val="4D4D4D"/>
                </a:solidFill>
                <a:latin typeface="Calibri"/>
                <a:cs typeface="Calibri"/>
              </a:rPr>
              <a:t>Kabir</a:t>
            </a:r>
            <a:r>
              <a:rPr sz="3450" b="1" i="1" spc="-6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450" b="1" i="1" dirty="0">
                <a:solidFill>
                  <a:srgbClr val="4D4D4D"/>
                </a:solidFill>
                <a:latin typeface="Calibri"/>
                <a:cs typeface="Calibri"/>
              </a:rPr>
              <a:t>Jain</a:t>
            </a:r>
            <a:r>
              <a:rPr sz="3450" b="1" i="1" spc="-5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450" b="1" i="1" spc="-10" dirty="0">
                <a:solidFill>
                  <a:srgbClr val="4D4D4D"/>
                </a:solidFill>
                <a:latin typeface="Calibri"/>
                <a:cs typeface="Calibri"/>
              </a:rPr>
              <a:t>|ADT24SOCB0524 </a:t>
            </a:r>
            <a:r>
              <a:rPr sz="3450" b="1" i="1" spc="-25" dirty="0">
                <a:solidFill>
                  <a:srgbClr val="4D4D4D"/>
                </a:solidFill>
                <a:latin typeface="Calibri"/>
                <a:cs typeface="Calibri"/>
              </a:rPr>
              <a:t>Yash</a:t>
            </a:r>
            <a:r>
              <a:rPr sz="3450" b="1" i="1" spc="-12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450" b="1" i="1" dirty="0">
                <a:solidFill>
                  <a:srgbClr val="4D4D4D"/>
                </a:solidFill>
                <a:latin typeface="Calibri"/>
                <a:cs typeface="Calibri"/>
              </a:rPr>
              <a:t>Patil</a:t>
            </a:r>
            <a:r>
              <a:rPr sz="3450" b="1" i="1" spc="-114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450" b="1" i="1" spc="-10" dirty="0">
                <a:solidFill>
                  <a:srgbClr val="4D4D4D"/>
                </a:solidFill>
                <a:latin typeface="Calibri"/>
                <a:cs typeface="Calibri"/>
              </a:rPr>
              <a:t>|ADT24SOCB1425 </a:t>
            </a:r>
            <a:r>
              <a:rPr sz="3450" b="1" i="1" dirty="0">
                <a:solidFill>
                  <a:srgbClr val="4D4D4D"/>
                </a:solidFill>
                <a:latin typeface="Calibri"/>
                <a:cs typeface="Calibri"/>
              </a:rPr>
              <a:t>Harsh</a:t>
            </a:r>
            <a:r>
              <a:rPr sz="3450" b="1" i="1" spc="-5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450" b="1" i="1" dirty="0">
                <a:solidFill>
                  <a:srgbClr val="4D4D4D"/>
                </a:solidFill>
                <a:latin typeface="Calibri"/>
                <a:cs typeface="Calibri"/>
              </a:rPr>
              <a:t>Datar</a:t>
            </a:r>
            <a:r>
              <a:rPr sz="3450" b="1" i="1" spc="-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450" b="1" i="1" spc="-10" dirty="0">
                <a:solidFill>
                  <a:srgbClr val="4D4D4D"/>
                </a:solidFill>
                <a:latin typeface="Calibri"/>
                <a:cs typeface="Calibri"/>
              </a:rPr>
              <a:t>|ADT24SOCB0432 </a:t>
            </a:r>
            <a:r>
              <a:rPr sz="3450" b="1" i="1" dirty="0">
                <a:solidFill>
                  <a:srgbClr val="4D4D4D"/>
                </a:solidFill>
                <a:latin typeface="Calibri"/>
                <a:cs typeface="Calibri"/>
              </a:rPr>
              <a:t>Pratik</a:t>
            </a:r>
            <a:r>
              <a:rPr sz="3450" b="1" i="1" spc="-3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450" b="1" i="1" spc="-10" dirty="0">
                <a:solidFill>
                  <a:srgbClr val="4D4D4D"/>
                </a:solidFill>
                <a:latin typeface="Calibri"/>
                <a:cs typeface="Calibri"/>
              </a:rPr>
              <a:t>Ingole|ADT24SOCB0832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36575" y="4949505"/>
            <a:ext cx="3689350" cy="42386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750" b="1" i="1" dirty="0">
                <a:latin typeface="Calibri"/>
                <a:cs typeface="Calibri"/>
              </a:rPr>
              <a:t>Faculty</a:t>
            </a:r>
            <a:r>
              <a:rPr sz="3750" b="1" i="1" spc="-85" dirty="0">
                <a:latin typeface="Calibri"/>
                <a:cs typeface="Calibri"/>
              </a:rPr>
              <a:t> </a:t>
            </a:r>
            <a:r>
              <a:rPr sz="3750" b="1" i="1" spc="-10" dirty="0">
                <a:latin typeface="Calibri"/>
                <a:cs typeface="Calibri"/>
              </a:rPr>
              <a:t>Guide:</a:t>
            </a:r>
            <a:endParaRPr sz="3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3750" b="1" i="1" spc="-40" dirty="0">
                <a:solidFill>
                  <a:srgbClr val="4D4D4D"/>
                </a:solidFill>
                <a:latin typeface="Calibri"/>
                <a:cs typeface="Calibri"/>
              </a:rPr>
              <a:t>Dr.</a:t>
            </a:r>
            <a:r>
              <a:rPr sz="3750" b="1" i="1" spc="-10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750" b="1" i="1" dirty="0">
                <a:solidFill>
                  <a:srgbClr val="4D4D4D"/>
                </a:solidFill>
                <a:latin typeface="Calibri"/>
                <a:cs typeface="Calibri"/>
              </a:rPr>
              <a:t>Nagesh</a:t>
            </a:r>
            <a:r>
              <a:rPr sz="3750" b="1" i="1" spc="-9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750" b="1" i="1" spc="-10" dirty="0">
                <a:solidFill>
                  <a:srgbClr val="4D4D4D"/>
                </a:solidFill>
                <a:latin typeface="Calibri"/>
                <a:cs typeface="Calibri"/>
              </a:rPr>
              <a:t>Jadhav</a:t>
            </a:r>
            <a:endParaRPr sz="3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35"/>
              </a:spcBef>
            </a:pPr>
            <a:endParaRPr sz="3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950" b="1" i="1" spc="-10" dirty="0">
                <a:latin typeface="Calibri"/>
                <a:cs typeface="Calibri"/>
              </a:rPr>
              <a:t>Group:</a:t>
            </a:r>
            <a:endParaRPr sz="3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60"/>
              </a:spcBef>
            </a:pPr>
            <a:r>
              <a:rPr sz="3950" b="1" dirty="0">
                <a:solidFill>
                  <a:srgbClr val="4D4D4D"/>
                </a:solidFill>
                <a:latin typeface="Calibri"/>
                <a:cs typeface="Calibri"/>
              </a:rPr>
              <a:t>SY16-</a:t>
            </a:r>
            <a:r>
              <a:rPr sz="3950" b="1" spc="-25" dirty="0">
                <a:solidFill>
                  <a:srgbClr val="4D4D4D"/>
                </a:solidFill>
                <a:latin typeface="Calibri"/>
                <a:cs typeface="Calibri"/>
              </a:rPr>
              <a:t>07</a:t>
            </a:r>
            <a:endParaRPr sz="3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399</Words>
  <Application>Microsoft Office PowerPoint</Application>
  <PresentationFormat>Custom</PresentationFormat>
  <Paragraphs>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Office Theme</vt:lpstr>
      <vt:lpstr>AI-Legis Intelligent Legal Case Analysis &amp; Inconsistency Detection System</vt:lpstr>
      <vt:lpstr>Current Challenges</vt:lpstr>
      <vt:lpstr>Problem Statement</vt:lpstr>
      <vt:lpstr>Target Users</vt:lpstr>
      <vt:lpstr>Our Proposed Solution</vt:lpstr>
      <vt:lpstr>Technology Architecture Overview</vt:lpstr>
      <vt:lpstr>Towards a Smarter Justice System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Digital Case Management</dc:title>
  <dc:creator>Harsh Datar</dc:creator>
  <cp:keywords>DAG_nKtYkbA,BAEzoRGJC9g,0</cp:keywords>
  <cp:lastModifiedBy>Chittaranjan Chemicals</cp:lastModifiedBy>
  <cp:revision>2</cp:revision>
  <cp:lastPrinted>2026-04-25T15:28:49Z</cp:lastPrinted>
  <dcterms:created xsi:type="dcterms:W3CDTF">2026-03-24T08:20:26Z</dcterms:created>
  <dcterms:modified xsi:type="dcterms:W3CDTF">2026-04-25T15:28:52Z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2026-03-24T00:00:00Z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